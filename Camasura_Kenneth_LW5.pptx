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Roboto Mon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CE9DE9-D650-485F-9758-E958570981ED}">
  <a:tblStyle styleId="{57CE9DE9-D650-485F-9758-E958570981E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Mon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Mono-italic.fntdata"/><Relationship Id="rId30" Type="http://schemas.openxmlformats.org/officeDocument/2006/relationships/font" Target="fonts/RobotoMono-bold.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RobotoMono-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62c64da9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62c64da9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e62c64da9f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e62c64da9f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e62c64da9f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e62c64da9f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e62c64da9f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e62c64da9f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62c64da9f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62c64da9f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e62c64da9f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e62c64da9f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62c64da9f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62c64da9f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62c64da9f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e62c64da9f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e62c64da9f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e62c64da9f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e62c64da9f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e62c64da9f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e62c64da9f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e62c64da9f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e62c64da9f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e62c64da9f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e62c64da9f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e62c64da9f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e62c64da9f_1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e62c64da9f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e62c64da9f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e62c64da9f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e62c64da9f_1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e62c64da9f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62c64da9f_1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e62c64da9f_1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62c64da9f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e62c64da9f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e62c64da9f_1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e62c64da9f_1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e62c64da9f_1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e62c64da9f_1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62c64da9f_1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e62c64da9f_1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1200975"/>
            <a:ext cx="8520600" cy="1596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3180"/>
              <a:t> Applying DAX</a:t>
            </a:r>
            <a:endParaRPr sz="3180"/>
          </a:p>
          <a:p>
            <a:pPr indent="0" lvl="0" marL="0" rtl="0" algn="ctr">
              <a:spcBef>
                <a:spcPts val="0"/>
              </a:spcBef>
              <a:spcAft>
                <a:spcPts val="0"/>
              </a:spcAft>
              <a:buSzPts val="990"/>
              <a:buNone/>
            </a:pPr>
            <a:r>
              <a:rPr lang="en" sz="3180"/>
              <a:t>Fundamentals in Power BI: From Measures to</a:t>
            </a:r>
            <a:endParaRPr sz="3180"/>
          </a:p>
          <a:p>
            <a:pPr indent="0" lvl="0" marL="0" rtl="0" algn="ctr">
              <a:spcBef>
                <a:spcPts val="0"/>
              </a:spcBef>
              <a:spcAft>
                <a:spcPts val="0"/>
              </a:spcAft>
              <a:buSzPts val="990"/>
              <a:buNone/>
            </a:pPr>
            <a:r>
              <a:rPr lang="en" sz="3180"/>
              <a:t>Contextual Analysis</a:t>
            </a:r>
            <a:endParaRPr sz="3180"/>
          </a:p>
        </p:txBody>
      </p:sp>
      <p:sp>
        <p:nvSpPr>
          <p:cNvPr id="55" name="Google Shape;55;p13"/>
          <p:cNvSpPr txBox="1"/>
          <p:nvPr>
            <p:ph idx="1" type="subTitle"/>
          </p:nvPr>
        </p:nvSpPr>
        <p:spPr>
          <a:xfrm>
            <a:off x="311700" y="3234450"/>
            <a:ext cx="8520600" cy="792600"/>
          </a:xfrm>
          <a:prstGeom prst="rect">
            <a:avLst/>
          </a:prstGeom>
        </p:spPr>
        <p:txBody>
          <a:bodyPr anchorCtr="0" anchor="t" bIns="91425" lIns="91425" spcFirstLastPara="1" rIns="91425" wrap="square" tIns="91425">
            <a:noAutofit/>
          </a:bodyPr>
          <a:lstStyle/>
          <a:p>
            <a:pPr indent="457200" lvl="0" marL="3657600" rtl="0" algn="l">
              <a:lnSpc>
                <a:spcPct val="60000"/>
              </a:lnSpc>
              <a:spcBef>
                <a:spcPts val="0"/>
              </a:spcBef>
              <a:spcAft>
                <a:spcPts val="0"/>
              </a:spcAft>
              <a:buSzPts val="688"/>
              <a:buNone/>
            </a:pPr>
            <a:r>
              <a:rPr lang="en" sz="1519"/>
              <a:t>Kenneth A. Camasura</a:t>
            </a:r>
            <a:endParaRPr sz="1519"/>
          </a:p>
          <a:p>
            <a:pPr indent="457200" lvl="0" marL="3657600" rtl="0" algn="l">
              <a:lnSpc>
                <a:spcPct val="60000"/>
              </a:lnSpc>
              <a:spcBef>
                <a:spcPts val="0"/>
              </a:spcBef>
              <a:spcAft>
                <a:spcPts val="0"/>
              </a:spcAft>
              <a:buClr>
                <a:schemeClr val="dk1"/>
              </a:buClr>
              <a:buSzPts val="688"/>
              <a:buFont typeface="Arial"/>
              <a:buNone/>
            </a:pPr>
            <a:r>
              <a:t/>
            </a:r>
            <a:endParaRPr sz="1519"/>
          </a:p>
          <a:p>
            <a:pPr indent="457200" lvl="0" marL="1828800" rtl="0" algn="l">
              <a:lnSpc>
                <a:spcPct val="60000"/>
              </a:lnSpc>
              <a:spcBef>
                <a:spcPts val="0"/>
              </a:spcBef>
              <a:spcAft>
                <a:spcPts val="0"/>
              </a:spcAft>
              <a:buSzPts val="688"/>
              <a:buNone/>
            </a:pPr>
            <a:r>
              <a:rPr lang="en" sz="1519"/>
              <a:t>				Instructor: Joseph A. Vistal</a:t>
            </a:r>
            <a:endParaRPr sz="1519"/>
          </a:p>
          <a:p>
            <a:pPr indent="457200" lvl="0" marL="1828800" rtl="0" algn="l">
              <a:lnSpc>
                <a:spcPct val="60000"/>
              </a:lnSpc>
              <a:spcBef>
                <a:spcPts val="0"/>
              </a:spcBef>
              <a:spcAft>
                <a:spcPts val="0"/>
              </a:spcAft>
              <a:buClr>
                <a:schemeClr val="dk1"/>
              </a:buClr>
              <a:buSzPts val="688"/>
              <a:buFont typeface="Arial"/>
              <a:buNone/>
            </a:pPr>
            <a:r>
              <a:t/>
            </a:r>
            <a:endParaRPr sz="1519"/>
          </a:p>
          <a:p>
            <a:pPr indent="457200" lvl="0" marL="1828800" rtl="0" algn="l">
              <a:lnSpc>
                <a:spcPct val="60000"/>
              </a:lnSpc>
              <a:spcBef>
                <a:spcPts val="0"/>
              </a:spcBef>
              <a:spcAft>
                <a:spcPts val="0"/>
              </a:spcAft>
              <a:buClr>
                <a:schemeClr val="dk1"/>
              </a:buClr>
              <a:buSzPts val="688"/>
              <a:buFont typeface="Arial"/>
              <a:buNone/>
            </a:pPr>
            <a:r>
              <a:rPr lang="en" sz="1519"/>
              <a:t>				IS 107 - Business Intelligence</a:t>
            </a:r>
            <a:endParaRPr sz="1519"/>
          </a:p>
          <a:p>
            <a:pPr indent="0" lvl="0" marL="0" rtl="0" algn="ctr">
              <a:lnSpc>
                <a:spcPct val="80000"/>
              </a:lnSpc>
              <a:spcBef>
                <a:spcPts val="0"/>
              </a:spcBef>
              <a:spcAft>
                <a:spcPts val="0"/>
              </a:spcAft>
              <a:buSzPts val="688"/>
              <a:buNone/>
            </a:pPr>
            <a:r>
              <a:t/>
            </a:r>
            <a:endParaRPr sz="205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Formula</a:t>
            </a:r>
            <a:r>
              <a:rPr lang="en" sz="2020"/>
              <a:t>:Total Numbers of Cookies Sold = sum(Orders[Units Sold])</a:t>
            </a:r>
            <a:endParaRPr sz="2020"/>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2" name="Google Shape;62;p14" title="Screenshot 2026-04-24 154239.jpg"/>
          <p:cNvPicPr preferRelativeResize="0"/>
          <p:nvPr/>
        </p:nvPicPr>
        <p:blipFill rotWithShape="1">
          <a:blip r:embed="rId3">
            <a:alphaModFix/>
          </a:blip>
          <a:srcRect b="0" l="1130" r="-1130" t="0"/>
          <a:stretch/>
        </p:blipFill>
        <p:spPr>
          <a:xfrm>
            <a:off x="285750" y="962500"/>
            <a:ext cx="8572499" cy="3924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Formula: Count of orders = COUNTROWS(Orders)</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9" name="Google Shape;69;p15" title="Screenshot 2026-04-24 161038.jpg"/>
          <p:cNvPicPr preferRelativeResize="0"/>
          <p:nvPr/>
        </p:nvPicPr>
        <p:blipFill>
          <a:blip r:embed="rId3">
            <a:alphaModFix/>
          </a:blip>
          <a:stretch>
            <a:fillRect/>
          </a:stretch>
        </p:blipFill>
        <p:spPr>
          <a:xfrm>
            <a:off x="285750" y="1017725"/>
            <a:ext cx="8572499" cy="3951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620"/>
              <a:t>Formula:Distinct Customers = DISTINCTCOUNT(Orders[Customer ID])</a:t>
            </a:r>
            <a:endParaRPr b="1" sz="1620"/>
          </a:p>
          <a:p>
            <a:pPr indent="0" lvl="0" marL="0" rtl="0" algn="l">
              <a:spcBef>
                <a:spcPts val="0"/>
              </a:spcBef>
              <a:spcAft>
                <a:spcPts val="0"/>
              </a:spcAft>
              <a:buSzPts val="990"/>
              <a:buNone/>
            </a:pPr>
            <a:r>
              <a:rPr b="1" lang="en" sz="1620"/>
              <a:t>//This tells me how  many customers  we have</a:t>
            </a:r>
            <a:endParaRPr b="1" sz="1620"/>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6" name="Google Shape;76;p16" title="Screenshot 2026-04-24 161145.jpg"/>
          <p:cNvPicPr preferRelativeResize="0"/>
          <p:nvPr/>
        </p:nvPicPr>
        <p:blipFill>
          <a:blip r:embed="rId3">
            <a:alphaModFix/>
          </a:blip>
          <a:stretch>
            <a:fillRect/>
          </a:stretch>
        </p:blipFill>
        <p:spPr>
          <a:xfrm>
            <a:off x="285750" y="1017725"/>
            <a:ext cx="8572499" cy="39104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220"/>
              <a:t>Formula: Total Profit = sum(Orders[Revenue]) - sum(Orders[Cost])</a:t>
            </a:r>
            <a:endParaRPr sz="2220"/>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3" name="Google Shape;83;p17" title="Screenshot 2026-04-24 161202.jpg"/>
          <p:cNvPicPr preferRelativeResize="0"/>
          <p:nvPr/>
        </p:nvPicPr>
        <p:blipFill>
          <a:blip r:embed="rId3">
            <a:alphaModFix/>
          </a:blip>
          <a:stretch>
            <a:fillRect/>
          </a:stretch>
        </p:blipFill>
        <p:spPr>
          <a:xfrm>
            <a:off x="285750" y="1017725"/>
            <a:ext cx="8572499" cy="3896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620"/>
              <a:t>Formula: Sum of Revenue minus Sum of Cost = SUM('Orders'[Revenue]) - SUM('Orders'[Cost])</a:t>
            </a:r>
            <a:endParaRPr b="1" sz="1620"/>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0" name="Google Shape;90;p18" title="Screenshot 2026-04-24 161243.jpg"/>
          <p:cNvPicPr preferRelativeResize="0"/>
          <p:nvPr/>
        </p:nvPicPr>
        <p:blipFill>
          <a:blip r:embed="rId3">
            <a:alphaModFix/>
          </a:blip>
          <a:stretch>
            <a:fillRect/>
          </a:stretch>
        </p:blipFill>
        <p:spPr>
          <a:xfrm>
            <a:off x="285750" y="1017725"/>
            <a:ext cx="8572499" cy="3922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Formula: Profit Margin % = [Total Profit] / sum(Orders[Revenue])</a:t>
            </a:r>
            <a:endParaRPr sz="2320"/>
          </a:p>
        </p:txBody>
      </p:sp>
      <p:sp>
        <p:nvSpPr>
          <p:cNvPr id="96" name="Google Shape;96;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7" name="Google Shape;97;p19" title="Screenshot 2026-04-24 161655.jpg"/>
          <p:cNvPicPr preferRelativeResize="0"/>
          <p:nvPr/>
        </p:nvPicPr>
        <p:blipFill>
          <a:blip r:embed="rId3">
            <a:alphaModFix/>
          </a:blip>
          <a:stretch>
            <a:fillRect/>
          </a:stretch>
        </p:blipFill>
        <p:spPr>
          <a:xfrm>
            <a:off x="285750" y="1017725"/>
            <a:ext cx="8572499" cy="38273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520"/>
              <a:t>Formula: Total Profit 2 = sumx('Cookie Types','Cookie Types'[Units Sold]*('Cookie Types'[Revenue Per Cookie] - 'Cookie Types'[Cost Per Cookie]))</a:t>
            </a:r>
            <a:endParaRPr b="1" sz="1520"/>
          </a:p>
        </p:txBody>
      </p:sp>
      <p:sp>
        <p:nvSpPr>
          <p:cNvPr id="103" name="Google Shape;103;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4" name="Google Shape;104;p20" title="Screenshot 2026-04-24 161747.jpg"/>
          <p:cNvPicPr preferRelativeResize="0"/>
          <p:nvPr/>
        </p:nvPicPr>
        <p:blipFill>
          <a:blip r:embed="rId3">
            <a:alphaModFix/>
          </a:blip>
          <a:stretch>
            <a:fillRect/>
          </a:stretch>
        </p:blipFill>
        <p:spPr>
          <a:xfrm>
            <a:off x="285750" y="1017725"/>
            <a:ext cx="8572499" cy="38273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520"/>
              <a:t>Formula: Day of week = WEEKDAY(Orders[Date],1)</a:t>
            </a:r>
            <a:endParaRPr sz="2520"/>
          </a:p>
        </p:txBody>
      </p:sp>
      <p:sp>
        <p:nvSpPr>
          <p:cNvPr id="110" name="Google Shape;110;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1" name="Google Shape;111;p21" title="Screenshot 2026-04-24 161940.jpg"/>
          <p:cNvPicPr preferRelativeResize="0"/>
          <p:nvPr/>
        </p:nvPicPr>
        <p:blipFill>
          <a:blip r:embed="rId3">
            <a:alphaModFix/>
          </a:blip>
          <a:stretch>
            <a:fillRect/>
          </a:stretch>
        </p:blipFill>
        <p:spPr>
          <a:xfrm>
            <a:off x="285750" y="1017725"/>
            <a:ext cx="8572499" cy="38178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320"/>
              <a:t>Formula: Chocolate chip with over 500 units = CALCULATE(COUNTROWS(Orders),Orders[Units Sold]&gt;500,Orders[Product]=="Chocolate Chip")</a:t>
            </a:r>
            <a:endParaRPr b="1" sz="1320"/>
          </a:p>
        </p:txBody>
      </p:sp>
      <p:sp>
        <p:nvSpPr>
          <p:cNvPr id="117" name="Google Shape;117;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8" name="Google Shape;118;p22" title="Screenshot 2026-04-24 162052.jpg"/>
          <p:cNvPicPr preferRelativeResize="0"/>
          <p:nvPr/>
        </p:nvPicPr>
        <p:blipFill>
          <a:blip r:embed="rId3">
            <a:alphaModFix/>
          </a:blip>
          <a:stretch>
            <a:fillRect/>
          </a:stretch>
        </p:blipFill>
        <p:spPr>
          <a:xfrm>
            <a:off x="285750" y="1017725"/>
            <a:ext cx="8572499" cy="38177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Formula: Profit = Orders[Revenue] - Orders[Cost]</a:t>
            </a:r>
            <a:endParaRPr/>
          </a:p>
        </p:txBody>
      </p:sp>
      <p:sp>
        <p:nvSpPr>
          <p:cNvPr id="124" name="Google Shape;124;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5" name="Google Shape;125;p23" title="Screenshot 2026-04-24 170020.jpg"/>
          <p:cNvPicPr preferRelativeResize="0"/>
          <p:nvPr/>
        </p:nvPicPr>
        <p:blipFill>
          <a:blip r:embed="rId3">
            <a:alphaModFix/>
          </a:blip>
          <a:stretch>
            <a:fillRect/>
          </a:stretch>
        </p:blipFill>
        <p:spPr>
          <a:xfrm>
            <a:off x="285750" y="1017725"/>
            <a:ext cx="8572499" cy="37892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Formula: Day of week = WEEKDAY(Orders[Date],1)</a:t>
            </a:r>
            <a:endParaRPr/>
          </a:p>
        </p:txBody>
      </p:sp>
      <p:sp>
        <p:nvSpPr>
          <p:cNvPr id="131" name="Google Shape;13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2" name="Google Shape;132;p24" title="Screenshot 2026-04-24 170035.jpg"/>
          <p:cNvPicPr preferRelativeResize="0"/>
          <p:nvPr/>
        </p:nvPicPr>
        <p:blipFill>
          <a:blip r:embed="rId3">
            <a:alphaModFix/>
          </a:blip>
          <a:stretch>
            <a:fillRect/>
          </a:stretch>
        </p:blipFill>
        <p:spPr>
          <a:xfrm>
            <a:off x="285750" y="1017725"/>
            <a:ext cx="8572499" cy="3751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520"/>
              <a:t>Formula: Has Chocolate = if(FIND("Chocolate",Orders[Product],1,0)&gt;0,"Has Chocolate","No Chocolate")</a:t>
            </a:r>
            <a:endParaRPr b="1" sz="1520"/>
          </a:p>
        </p:txBody>
      </p:sp>
      <p:sp>
        <p:nvSpPr>
          <p:cNvPr id="138" name="Google Shape;138;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9" name="Google Shape;139;p25" title="Screenshot 2026-04-24 170306.jpg"/>
          <p:cNvPicPr preferRelativeResize="0"/>
          <p:nvPr/>
        </p:nvPicPr>
        <p:blipFill>
          <a:blip r:embed="rId3">
            <a:alphaModFix/>
          </a:blip>
          <a:stretch>
            <a:fillRect/>
          </a:stretch>
        </p:blipFill>
        <p:spPr>
          <a:xfrm>
            <a:off x="285750" y="1017725"/>
            <a:ext cx="8572499" cy="3779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Guided Questions:</a:t>
            </a:r>
            <a:endParaRPr/>
          </a:p>
        </p:txBody>
      </p:sp>
      <p:sp>
        <p:nvSpPr>
          <p:cNvPr id="145" name="Google Shape;145;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t>I. Foundational Concepts</a:t>
            </a:r>
            <a:endParaRPr b="1"/>
          </a:p>
          <a:p>
            <a:pPr indent="0" lvl="0" marL="0" rtl="0" algn="l">
              <a:spcBef>
                <a:spcPts val="1200"/>
              </a:spcBef>
              <a:spcAft>
                <a:spcPts val="0"/>
              </a:spcAft>
              <a:buClr>
                <a:schemeClr val="dk1"/>
              </a:buClr>
              <a:buSzPts val="1100"/>
              <a:buFont typeface="Arial"/>
              <a:buNone/>
            </a:pPr>
            <a:r>
              <a:rPr b="1" lang="en"/>
              <a:t>1. Defining DAX: In your own words, how would you explain the difference between a standard Excel formula and a Data Analysis Expression (DAX) based on the tutorial?</a:t>
            </a:r>
            <a:endParaRPr b="1"/>
          </a:p>
          <a:p>
            <a:pPr indent="0" lvl="0" marL="0" rtl="0" algn="l">
              <a:spcBef>
                <a:spcPts val="1200"/>
              </a:spcBef>
              <a:spcAft>
                <a:spcPts val="1200"/>
              </a:spcAft>
              <a:buNone/>
            </a:pPr>
            <a:r>
              <a:rPr lang="en"/>
              <a:t>Answer: A standard Excel formula works on a fixed cell or range it's static and tied to a specific location in a spreadsheet. DAX, on the other hand, is designed to work with relational data models and entire columns or tables. Instead of referencing "cell B2," DAX references "the Sales Amount column in the Sales table." It's also dynamic it responds to filters, slicers, and visuals automatically, something Excel formulas can't do natively in the same way.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Guided Questions:</a:t>
            </a:r>
            <a:endParaRPr/>
          </a:p>
          <a:p>
            <a:pPr indent="0" lvl="0" marL="0" rtl="0" algn="l">
              <a:spcBef>
                <a:spcPts val="0"/>
              </a:spcBef>
              <a:spcAft>
                <a:spcPts val="0"/>
              </a:spcAft>
              <a:buNone/>
            </a:pPr>
            <a:r>
              <a:t/>
            </a:r>
            <a:endParaRPr/>
          </a:p>
        </p:txBody>
      </p:sp>
      <p:sp>
        <p:nvSpPr>
          <p:cNvPr id="151" name="Google Shape;151;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b="1" lang="en"/>
              <a:t>I. Foundational Concepts</a:t>
            </a:r>
            <a:endParaRPr b="1"/>
          </a:p>
          <a:p>
            <a:pPr indent="0" lvl="0" marL="0" rtl="0" algn="l">
              <a:spcBef>
                <a:spcPts val="1200"/>
              </a:spcBef>
              <a:spcAft>
                <a:spcPts val="0"/>
              </a:spcAft>
              <a:buClr>
                <a:schemeClr val="dk1"/>
              </a:buClr>
              <a:buSzPct val="61111"/>
              <a:buFont typeface="Arial"/>
              <a:buNone/>
            </a:pPr>
            <a:r>
              <a:rPr b="1" lang="en"/>
              <a:t>2. The "Why" of DAX: Why can’t we just use the raw numbers from our imported dataset to create complex reports? What is the specific "gap" that DAX fills in Power BI?</a:t>
            </a:r>
            <a:endParaRPr b="1"/>
          </a:p>
          <a:p>
            <a:pPr indent="0" lvl="0" marL="0" rtl="0" algn="l">
              <a:spcBef>
                <a:spcPts val="1200"/>
              </a:spcBef>
              <a:spcAft>
                <a:spcPts val="0"/>
              </a:spcAft>
              <a:buNone/>
            </a:pPr>
            <a:r>
              <a:rPr lang="en" sz="2134"/>
              <a:t>Answer: Raw numbers from an imported dataset are just stored values they can't adapt to context. The gap DAX fills is dynamic calculation. For example, raw data might have individual sales rows, but to get "Total Sales only for a specific region when a slicer is clicked," you need DAX. It allows you to create calculations that respond to user interaction and filter context in real time, which raw data simply cannot do.</a:t>
            </a:r>
            <a:endParaRPr sz="2134"/>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Guided Questions: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57" name="Google Shape;157;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t>II. Calculated Columns vs. Measures</a:t>
            </a:r>
            <a:endParaRPr b="1"/>
          </a:p>
          <a:p>
            <a:pPr indent="0" lvl="0" marL="0" rtl="0" algn="l">
              <a:spcBef>
                <a:spcPts val="1200"/>
              </a:spcBef>
              <a:spcAft>
                <a:spcPts val="0"/>
              </a:spcAft>
              <a:buClr>
                <a:schemeClr val="dk1"/>
              </a:buClr>
              <a:buSzPts val="1100"/>
              <a:buFont typeface="Arial"/>
              <a:buNone/>
            </a:pPr>
            <a:r>
              <a:rPr b="1" lang="en"/>
              <a:t>3. The Storage Difference: The video demonstrates creating both Calculated Columns and Measures. Which one actually increases the file size of your Power BI model, and why is this an important consideration for large datasets?</a:t>
            </a:r>
            <a:endParaRPr b="1"/>
          </a:p>
          <a:p>
            <a:pPr indent="0" lvl="0" marL="0" rtl="0" algn="l">
              <a:spcBef>
                <a:spcPts val="1200"/>
              </a:spcBef>
              <a:spcAft>
                <a:spcPts val="1200"/>
              </a:spcAft>
              <a:buNone/>
            </a:pPr>
            <a:r>
              <a:rPr lang="en"/>
              <a:t>Answer: Calculated Columns increase the file size because they are computed row-by-row at data refresh time and stored physically inside the data model. Every new row gets a new computed value saved to memory. Measures, by contrast, are calculated on the fly only when a visual needs them nothing is stored. For large datasets with millions of rows, using Calculated Columns unnecessarily can dramatically bloat your .pbix file.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Guided Questions:</a:t>
            </a:r>
            <a:endParaRPr/>
          </a:p>
          <a:p>
            <a:pPr indent="0" lvl="0" marL="0" rtl="0" algn="l">
              <a:spcBef>
                <a:spcPts val="0"/>
              </a:spcBef>
              <a:spcAft>
                <a:spcPts val="0"/>
              </a:spcAft>
              <a:buNone/>
            </a:pPr>
            <a:r>
              <a:t/>
            </a:r>
            <a:endParaRPr/>
          </a:p>
        </p:txBody>
      </p:sp>
      <p:sp>
        <p:nvSpPr>
          <p:cNvPr id="163" name="Google Shape;163;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Clr>
                <a:schemeClr val="dk1"/>
              </a:buClr>
              <a:buSzPct val="61111"/>
              <a:buFont typeface="Arial"/>
              <a:buNone/>
            </a:pPr>
            <a:r>
              <a:rPr b="1" lang="en"/>
              <a:t>II. Calculated Columns vs. Measures</a:t>
            </a:r>
            <a:endParaRPr b="1"/>
          </a:p>
          <a:p>
            <a:pPr indent="0" lvl="0" marL="0" rtl="0" algn="l">
              <a:spcBef>
                <a:spcPts val="1200"/>
              </a:spcBef>
              <a:spcAft>
                <a:spcPts val="0"/>
              </a:spcAft>
              <a:buNone/>
            </a:pPr>
            <a:r>
              <a:rPr b="1" lang="en"/>
              <a:t>4. Context Clues: * When you created a Calculated Column, the calculation happened row-by-row.</a:t>
            </a:r>
            <a:endParaRPr b="1"/>
          </a:p>
          <a:p>
            <a:pPr indent="0" lvl="0" marL="0" rtl="0" algn="l">
              <a:spcBef>
                <a:spcPts val="1200"/>
              </a:spcBef>
              <a:spcAft>
                <a:spcPts val="0"/>
              </a:spcAft>
              <a:buNone/>
            </a:pPr>
            <a:r>
              <a:rPr b="1" lang="en"/>
              <a:t>○ When you created a Measure, the result changed depending on which filters or visuals you clicked.</a:t>
            </a:r>
            <a:endParaRPr b="1"/>
          </a:p>
          <a:p>
            <a:pPr indent="0" lvl="0" marL="0" rtl="0" algn="l">
              <a:spcBef>
                <a:spcPts val="1200"/>
              </a:spcBef>
              <a:spcAft>
                <a:spcPts val="0"/>
              </a:spcAft>
              <a:buNone/>
            </a:pPr>
            <a:r>
              <a:rPr b="1" lang="en"/>
              <a:t>○ Question: Explain how "Filter Context" affects the result of a Measure in your final dashboard.</a:t>
            </a:r>
            <a:endParaRPr b="1"/>
          </a:p>
          <a:p>
            <a:pPr indent="0" lvl="0" marL="0" rtl="0" algn="l">
              <a:spcBef>
                <a:spcPts val="1200"/>
              </a:spcBef>
              <a:spcAft>
                <a:spcPts val="1200"/>
              </a:spcAft>
              <a:buNone/>
            </a:pPr>
            <a:r>
              <a:rPr lang="en" sz="1890"/>
              <a:t>Answer:Filter Context is the set of filters currently active in a report from slicers, visual filters, row/column headers in a matrix, or cross-filtering from other visuals. A Measure's result automatically adjusts based on whatever Filter Context surrounds it. For example, a Total Sales measure will return the overall total on an empty canvas, but if you place it inside a chart broken down by Region, it will return the sales per region the same formula, different results, because the Filter Context changed. This makes Measures incredibly powerful and flexible.</a:t>
            </a:r>
            <a:endParaRPr sz="189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Guided Questions:</a:t>
            </a:r>
            <a:endParaRPr/>
          </a:p>
          <a:p>
            <a:pPr indent="0" lvl="0" marL="0" rtl="0" algn="l">
              <a:spcBef>
                <a:spcPts val="0"/>
              </a:spcBef>
              <a:spcAft>
                <a:spcPts val="0"/>
              </a:spcAft>
              <a:buNone/>
            </a:pPr>
            <a:r>
              <a:t/>
            </a:r>
            <a:endParaRPr/>
          </a:p>
        </p:txBody>
      </p:sp>
      <p:sp>
        <p:nvSpPr>
          <p:cNvPr id="169" name="Google Shape;169;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III. Function Application &amp; Syntax</a:t>
            </a:r>
            <a:endParaRPr b="1"/>
          </a:p>
          <a:p>
            <a:pPr indent="0" lvl="0" marL="0" rtl="0" algn="l">
              <a:spcBef>
                <a:spcPts val="1200"/>
              </a:spcBef>
              <a:spcAft>
                <a:spcPts val="0"/>
              </a:spcAft>
              <a:buNone/>
            </a:pPr>
            <a:r>
              <a:rPr b="1" lang="en"/>
              <a:t>5. The RELATED Function: In the tutorial, the RELATED function is used. Why is this function necessary when working with multiple tables, and what must be established in the Model View for this function to work correctly?</a:t>
            </a:r>
            <a:endParaRPr b="1"/>
          </a:p>
          <a:p>
            <a:pPr indent="0" lvl="0" marL="0" rtl="0" algn="l">
              <a:spcBef>
                <a:spcPts val="1200"/>
              </a:spcBef>
              <a:spcAft>
                <a:spcPts val="1200"/>
              </a:spcAft>
              <a:buNone/>
            </a:pPr>
            <a:r>
              <a:rPr lang="en" sz="1600"/>
              <a:t>Answer:RELATED is necessary when you need to pull a value from a different table into a Calculated Column. Since Power BI works with relational tables (not one big flat sheet), columns from other tables aren't directly accessible in a formula. For RELATED to work, a relationship must be established in Model View between the two tables specifically, a one-to-many relationship where the table you're pulling from is on the "one" side. Without that relationship, RELATED has no path to follow and will throw an error.</a:t>
            </a:r>
            <a:endParaRPr sz="16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1"/>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Guided Questions:</a:t>
            </a:r>
            <a:endParaRPr/>
          </a:p>
        </p:txBody>
      </p:sp>
      <p:sp>
        <p:nvSpPr>
          <p:cNvPr id="175" name="Google Shape;175;p31"/>
          <p:cNvSpPr txBox="1"/>
          <p:nvPr>
            <p:ph idx="1" type="body"/>
          </p:nvPr>
        </p:nvSpPr>
        <p:spPr>
          <a:xfrm>
            <a:off x="311700" y="712925"/>
            <a:ext cx="8520600" cy="443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III. Function Application &amp; Syntax</a:t>
            </a:r>
            <a:endParaRPr b="1"/>
          </a:p>
          <a:p>
            <a:pPr indent="0" lvl="0" marL="0" rtl="0" algn="l">
              <a:spcBef>
                <a:spcPts val="1200"/>
              </a:spcBef>
              <a:spcAft>
                <a:spcPts val="0"/>
              </a:spcAft>
              <a:buNone/>
            </a:pPr>
            <a:r>
              <a:rPr b="1" lang="en"/>
              <a:t>6. Deconstructing the Formula: Look at the following formula from the video: Total Sales = SUM(Sales[Sales Amount]) Identify the Measure Name, the Function, the Table, and the Column. Why is it "best practice" to include the table name in the reference?</a:t>
            </a:r>
            <a:endParaRPr b="1"/>
          </a:p>
          <a:p>
            <a:pPr indent="0" lvl="0" marL="0" rtl="0" algn="l">
              <a:spcBef>
                <a:spcPts val="1200"/>
              </a:spcBef>
              <a:spcAft>
                <a:spcPts val="0"/>
              </a:spcAft>
              <a:buNone/>
            </a:pPr>
            <a:r>
              <a:rPr lang="en"/>
              <a:t>Answer: Total Sales = SUM(Sales[Sales Amount]) </a:t>
            </a:r>
            <a:endParaRPr/>
          </a:p>
          <a:p>
            <a:pPr indent="0" lvl="0" marL="0" rtl="0" algn="l">
              <a:spcBef>
                <a:spcPts val="1200"/>
              </a:spcBef>
              <a:spcAft>
                <a:spcPts val="1200"/>
              </a:spcAft>
              <a:buClr>
                <a:schemeClr val="dk1"/>
              </a:buClr>
              <a:buSzPts val="1100"/>
              <a:buFont typeface="Arial"/>
              <a:buNone/>
            </a:pPr>
            <a:r>
              <a:t/>
            </a:r>
            <a:endParaRPr b="1"/>
          </a:p>
        </p:txBody>
      </p:sp>
      <p:graphicFrame>
        <p:nvGraphicFramePr>
          <p:cNvPr id="176" name="Google Shape;176;p31"/>
          <p:cNvGraphicFramePr/>
          <p:nvPr/>
        </p:nvGraphicFramePr>
        <p:xfrm>
          <a:off x="857250" y="2943275"/>
          <a:ext cx="3000000" cy="3000000"/>
        </p:xfrm>
        <a:graphic>
          <a:graphicData uri="http://schemas.openxmlformats.org/drawingml/2006/table">
            <a:tbl>
              <a:tblPr>
                <a:noFill/>
                <a:tableStyleId>{57CE9DE9-D650-485F-9758-E958570981ED}</a:tableStyleId>
              </a:tblPr>
              <a:tblGrid>
                <a:gridCol w="3619500"/>
                <a:gridCol w="3619500"/>
              </a:tblGrid>
              <a:tr h="581300">
                <a:tc>
                  <a:txBody>
                    <a:bodyPr/>
                    <a:lstStyle/>
                    <a:p>
                      <a:pPr indent="0" lvl="0" marL="0" rtl="0" algn="ctr">
                        <a:lnSpc>
                          <a:spcPct val="115000"/>
                        </a:lnSpc>
                        <a:spcBef>
                          <a:spcPts val="0"/>
                        </a:spcBef>
                        <a:spcAft>
                          <a:spcPts val="0"/>
                        </a:spcAft>
                        <a:buNone/>
                      </a:pPr>
                      <a:r>
                        <a:rPr b="1" lang="en" sz="1100"/>
                        <a:t>Component</a:t>
                      </a:r>
                      <a:endParaRPr b="1" sz="1100"/>
                    </a:p>
                  </a:txBody>
                  <a:tcPr marT="91425" marB="91425" marR="91425" marL="91425"/>
                </a:tc>
                <a:tc>
                  <a:txBody>
                    <a:bodyPr/>
                    <a:lstStyle/>
                    <a:p>
                      <a:pPr indent="0" lvl="0" marL="0" rtl="0" algn="ctr">
                        <a:spcBef>
                          <a:spcPts val="0"/>
                        </a:spcBef>
                        <a:spcAft>
                          <a:spcPts val="0"/>
                        </a:spcAft>
                        <a:buNone/>
                      </a:pPr>
                      <a:r>
                        <a:rPr lang="en"/>
                        <a:t> </a:t>
                      </a:r>
                      <a:r>
                        <a:rPr b="1" lang="en"/>
                        <a:t> </a:t>
                      </a:r>
                      <a:r>
                        <a:rPr b="1" lang="en" sz="1100"/>
                        <a:t>Value </a:t>
                      </a:r>
                      <a:endParaRPr b="1" sz="1100"/>
                    </a:p>
                  </a:txBody>
                  <a:tcPr marT="91425" marB="91425" marR="91425" marL="91425"/>
                </a:tc>
              </a:tr>
              <a:tr h="339375">
                <a:tc>
                  <a:txBody>
                    <a:bodyPr/>
                    <a:lstStyle/>
                    <a:p>
                      <a:pPr indent="0" lvl="0" marL="0" rtl="0" algn="l">
                        <a:spcBef>
                          <a:spcPts val="0"/>
                        </a:spcBef>
                        <a:spcAft>
                          <a:spcPts val="0"/>
                        </a:spcAft>
                        <a:buNone/>
                      </a:pPr>
                      <a:r>
                        <a:rPr lang="en"/>
                        <a:t>Measure Name </a:t>
                      </a:r>
                      <a:endParaRPr/>
                    </a:p>
                  </a:txBody>
                  <a:tcPr marT="91425" marB="91425" marR="91425" marL="91425"/>
                </a:tc>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Total Sales</a:t>
                      </a:r>
                      <a:r>
                        <a:rPr lang="en" sz="1100">
                          <a:solidFill>
                            <a:schemeClr val="dk1"/>
                          </a:solidFill>
                        </a:rPr>
                        <a:t> </a:t>
                      </a:r>
                      <a:endParaRPr/>
                    </a:p>
                  </a:txBody>
                  <a:tcPr marT="91425" marB="91425" marR="91425" marL="91425">
                    <a:solidFill>
                      <a:schemeClr val="lt1"/>
                    </a:solidFill>
                  </a:tcPr>
                </a:tc>
              </a:tr>
              <a:tr h="339375">
                <a:tc>
                  <a:txBody>
                    <a:bodyPr/>
                    <a:lstStyle/>
                    <a:p>
                      <a:pPr indent="0" lvl="0" marL="0" rtl="0" algn="l">
                        <a:spcBef>
                          <a:spcPts val="0"/>
                        </a:spcBef>
                        <a:spcAft>
                          <a:spcPts val="0"/>
                        </a:spcAft>
                        <a:buNone/>
                      </a:pPr>
                      <a:r>
                        <a:rPr lang="en"/>
                        <a:t>Function </a:t>
                      </a:r>
                      <a:endParaRPr/>
                    </a:p>
                  </a:txBody>
                  <a:tcPr marT="91425" marB="91425" marR="91425" marL="91425"/>
                </a:tc>
                <a:tc>
                  <a:txBody>
                    <a:bodyPr/>
                    <a:lstStyle/>
                    <a:p>
                      <a:pPr indent="0" lvl="0" marL="0" rtl="0" algn="l">
                        <a:spcBef>
                          <a:spcPts val="0"/>
                        </a:spcBef>
                        <a:spcAft>
                          <a:spcPts val="0"/>
                        </a:spcAft>
                        <a:buNone/>
                      </a:pPr>
                      <a:r>
                        <a:rPr lang="en"/>
                        <a:t>SUM() </a:t>
                      </a:r>
                      <a:endParaRPr/>
                    </a:p>
                  </a:txBody>
                  <a:tcPr marT="91425" marB="91425" marR="91425" marL="91425"/>
                </a:tc>
              </a:tr>
              <a:tr h="308925">
                <a:tc>
                  <a:txBody>
                    <a:bodyPr/>
                    <a:lstStyle/>
                    <a:p>
                      <a:pPr indent="0" lvl="0" marL="0" rtl="0" algn="l">
                        <a:spcBef>
                          <a:spcPts val="0"/>
                        </a:spcBef>
                        <a:spcAft>
                          <a:spcPts val="0"/>
                        </a:spcAft>
                        <a:buNone/>
                      </a:pPr>
                      <a:r>
                        <a:rPr lang="en"/>
                        <a:t>Table </a:t>
                      </a:r>
                      <a:endParaRPr/>
                    </a:p>
                  </a:txBody>
                  <a:tcPr marT="91425" marB="91425" marR="91425" marL="91425"/>
                </a:tc>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Sales</a:t>
                      </a:r>
                      <a:r>
                        <a:rPr lang="en" sz="1100">
                          <a:solidFill>
                            <a:schemeClr val="dk1"/>
                          </a:solidFill>
                        </a:rPr>
                        <a:t> </a:t>
                      </a:r>
                      <a:endParaRPr/>
                    </a:p>
                  </a:txBody>
                  <a:tcPr marT="91425" marB="91425" marR="91425" marL="91425"/>
                </a:tc>
              </a:tr>
              <a:tr h="308925">
                <a:tc>
                  <a:txBody>
                    <a:bodyPr/>
                    <a:lstStyle/>
                    <a:p>
                      <a:pPr indent="0" lvl="0" marL="0" rtl="0" algn="l">
                        <a:spcBef>
                          <a:spcPts val="0"/>
                        </a:spcBef>
                        <a:spcAft>
                          <a:spcPts val="0"/>
                        </a:spcAft>
                        <a:buNone/>
                      </a:pPr>
                      <a:r>
                        <a:rPr lang="en"/>
                        <a:t>Column </a:t>
                      </a:r>
                      <a:endParaRPr/>
                    </a:p>
                  </a:txBody>
                  <a:tcPr marT="91425" marB="91425" marR="91425" marL="91425"/>
                </a:tc>
                <a:tc>
                  <a:txBody>
                    <a:bodyPr/>
                    <a:lstStyle/>
                    <a:p>
                      <a:pPr indent="0" lvl="0" marL="0" rtl="0" algn="l">
                        <a:spcBef>
                          <a:spcPts val="0"/>
                        </a:spcBef>
                        <a:spcAft>
                          <a:spcPts val="0"/>
                        </a:spcAft>
                        <a:buNone/>
                      </a:pPr>
                      <a:r>
                        <a:rPr lang="en"/>
                        <a:t>Sales Amount </a:t>
                      </a:r>
                      <a:endParaRPr/>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2"/>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Guided Questions:</a:t>
            </a:r>
            <a:endParaRPr/>
          </a:p>
        </p:txBody>
      </p:sp>
      <p:sp>
        <p:nvSpPr>
          <p:cNvPr id="182" name="Google Shape;182;p32"/>
          <p:cNvSpPr txBox="1"/>
          <p:nvPr>
            <p:ph idx="1" type="body"/>
          </p:nvPr>
        </p:nvSpPr>
        <p:spPr>
          <a:xfrm>
            <a:off x="311700" y="712925"/>
            <a:ext cx="8520600" cy="443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III. Function Application &amp; Syntax</a:t>
            </a:r>
            <a:endParaRPr b="1"/>
          </a:p>
          <a:p>
            <a:pPr indent="0" lvl="0" marL="0" rtl="0" algn="l">
              <a:spcBef>
                <a:spcPts val="1200"/>
              </a:spcBef>
              <a:spcAft>
                <a:spcPts val="0"/>
              </a:spcAft>
              <a:buNone/>
            </a:pPr>
            <a:r>
              <a:rPr b="1" lang="en"/>
              <a:t>6. Deconstructing the Formula: Look at the following formula from the video: Total Sales = SUM(Sales[Sales Amount]) Identify the Measure Name, the Function, the Table, and the Column. Why is it "best practice" to include the table name in the reference?</a:t>
            </a:r>
            <a:endParaRPr b="1"/>
          </a:p>
          <a:p>
            <a:pPr indent="0" lvl="0" marL="0" rtl="0" algn="l">
              <a:spcBef>
                <a:spcPts val="1200"/>
              </a:spcBef>
              <a:spcAft>
                <a:spcPts val="0"/>
              </a:spcAft>
              <a:buNone/>
            </a:pPr>
            <a:r>
              <a:rPr lang="en"/>
              <a:t>Answer: </a:t>
            </a:r>
            <a:r>
              <a:rPr lang="en"/>
              <a:t>Including the table name (Sales[Sales Amount] instead of just [Sales Amount]) is best practice because it removes ambiguity if multiple tables have a column named "Sales Amount," DAX knows exactly which one you mean. It also makes formulas easier to read, debug, and maintain.</a:t>
            </a:r>
            <a:endParaRPr/>
          </a:p>
          <a:p>
            <a:pPr indent="0" lvl="0" marL="0" rtl="0" algn="l">
              <a:spcBef>
                <a:spcPts val="1200"/>
              </a:spcBef>
              <a:spcAft>
                <a:spcPts val="1200"/>
              </a:spcAft>
              <a:buNone/>
            </a:pPr>
            <a:r>
              <a:t/>
            </a:r>
            <a:endParaRPr b="1"/>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Guided Questions:</a:t>
            </a:r>
            <a:endParaRPr/>
          </a:p>
          <a:p>
            <a:pPr indent="0" lvl="0" marL="0" rtl="0" algn="l">
              <a:spcBef>
                <a:spcPts val="0"/>
              </a:spcBef>
              <a:spcAft>
                <a:spcPts val="0"/>
              </a:spcAft>
              <a:buNone/>
            </a:pPr>
            <a:r>
              <a:t/>
            </a:r>
            <a:endParaRPr/>
          </a:p>
        </p:txBody>
      </p:sp>
      <p:sp>
        <p:nvSpPr>
          <p:cNvPr id="188" name="Google Shape;188;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a:t>IV. Analysis &amp; Troubleshooting</a:t>
            </a:r>
            <a:endParaRPr b="1"/>
          </a:p>
          <a:p>
            <a:pPr indent="0" lvl="0" marL="0" rtl="0" algn="l">
              <a:spcBef>
                <a:spcPts val="1200"/>
              </a:spcBef>
              <a:spcAft>
                <a:spcPts val="0"/>
              </a:spcAft>
              <a:buNone/>
            </a:pPr>
            <a:r>
              <a:rPr b="1" lang="en"/>
              <a:t>7. Data Interpretation: Look at the visual you created using your DAX measures. If the "Total Profit" measure shows a negative number for a specific category, does that mean the DAX formula is "broken," or is it telling you something about the business data? How can you verify which it is?</a:t>
            </a:r>
            <a:endParaRPr b="1"/>
          </a:p>
          <a:p>
            <a:pPr indent="0" lvl="0" marL="0" rtl="0" algn="l">
              <a:spcBef>
                <a:spcPts val="1200"/>
              </a:spcBef>
              <a:spcAft>
                <a:spcPts val="0"/>
              </a:spcAft>
              <a:buNone/>
            </a:pPr>
            <a:r>
              <a:rPr lang="en"/>
              <a:t>Answer: A negative "Total Profit" does not mean the formula is broken it's most likely telling you something real about the business: that category is operating at a loss (costs exceed revenue). To verify, you should:</a:t>
            </a:r>
            <a:endParaRPr/>
          </a:p>
          <a:p>
            <a:pPr indent="-325755" lvl="0" marL="457200" rtl="0" algn="l">
              <a:spcBef>
                <a:spcPts val="1200"/>
              </a:spcBef>
              <a:spcAft>
                <a:spcPts val="0"/>
              </a:spcAft>
              <a:buSzPct val="100000"/>
              <a:buChar char="●"/>
            </a:pPr>
            <a:r>
              <a:rPr lang="en"/>
              <a:t>Check the underlying data for that category (are the cost values higher than the sales values?)</a:t>
            </a:r>
            <a:endParaRPr/>
          </a:p>
          <a:p>
            <a:pPr indent="-325755" lvl="0" marL="457200" rtl="0" algn="l">
              <a:spcBef>
                <a:spcPts val="0"/>
              </a:spcBef>
              <a:spcAft>
                <a:spcPts val="0"/>
              </a:spcAft>
              <a:buSzPct val="100000"/>
              <a:buChar char="●"/>
            </a:pPr>
            <a:r>
              <a:rPr lang="en"/>
              <a:t>Simplify the measure temporarily to display just Total Revenue and Total Cost separately to see both sides</a:t>
            </a:r>
            <a:endParaRPr/>
          </a:p>
          <a:p>
            <a:pPr indent="-325755" lvl="0" marL="457200" rtl="0" algn="l">
              <a:spcBef>
                <a:spcPts val="0"/>
              </a:spcBef>
              <a:spcAft>
                <a:spcPts val="0"/>
              </a:spcAft>
              <a:buSzPct val="100000"/>
              <a:buChar char="●"/>
            </a:pPr>
            <a:r>
              <a:rPr lang="en"/>
              <a:t>Cross-check with the source dataset to confirm the raw numbers match</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Guided Questions:</a:t>
            </a:r>
            <a:endParaRPr/>
          </a:p>
          <a:p>
            <a:pPr indent="0" lvl="0" marL="0" rtl="0" algn="l">
              <a:spcBef>
                <a:spcPts val="0"/>
              </a:spcBef>
              <a:spcAft>
                <a:spcPts val="0"/>
              </a:spcAft>
              <a:buClr>
                <a:schemeClr val="dk1"/>
              </a:buClr>
              <a:buSzPct val="39286"/>
              <a:buFont typeface="Arial"/>
              <a:buNone/>
            </a:pPr>
            <a:r>
              <a:t/>
            </a:r>
            <a:endParaRPr/>
          </a:p>
          <a:p>
            <a:pPr indent="0" lvl="0" marL="0" rtl="0" algn="l">
              <a:spcBef>
                <a:spcPts val="0"/>
              </a:spcBef>
              <a:spcAft>
                <a:spcPts val="0"/>
              </a:spcAft>
              <a:buNone/>
            </a:pPr>
            <a:r>
              <a:t/>
            </a:r>
            <a:endParaRPr/>
          </a:p>
        </p:txBody>
      </p:sp>
      <p:sp>
        <p:nvSpPr>
          <p:cNvPr id="194" name="Google Shape;194;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b="1" lang="en"/>
              <a:t>IV. Analysis &amp; Troubleshooting</a:t>
            </a:r>
            <a:endParaRPr b="1"/>
          </a:p>
          <a:p>
            <a:pPr indent="0" lvl="0" marL="0" rtl="0" algn="l">
              <a:spcBef>
                <a:spcPts val="1200"/>
              </a:spcBef>
              <a:spcAft>
                <a:spcPts val="0"/>
              </a:spcAft>
              <a:buNone/>
            </a:pPr>
            <a:r>
              <a:rPr b="1" lang="en"/>
              <a:t>8. Optimization: If you were tasked with calculating Profit Margin Percentage, would it be more efficient to create a Calculated Column for every row or a single Measure? Justify your answer based on what you learned about DAX efficiency.</a:t>
            </a:r>
            <a:endParaRPr b="1"/>
          </a:p>
          <a:p>
            <a:pPr indent="0" lvl="0" marL="0" rtl="0" algn="l">
              <a:spcBef>
                <a:spcPts val="1200"/>
              </a:spcBef>
              <a:spcAft>
                <a:spcPts val="0"/>
              </a:spcAft>
              <a:buNone/>
            </a:pPr>
            <a:r>
              <a:t/>
            </a:r>
            <a:endParaRPr b="1"/>
          </a:p>
          <a:p>
            <a:pPr indent="0" lvl="0" marL="0" rtl="0" algn="l">
              <a:spcBef>
                <a:spcPts val="1200"/>
              </a:spcBef>
              <a:spcAft>
                <a:spcPts val="0"/>
              </a:spcAft>
              <a:buNone/>
            </a:pPr>
            <a:r>
              <a:rPr lang="en"/>
              <a:t>Answer: A single Measure is far more efficient. Here's why:</a:t>
            </a:r>
            <a:endParaRPr/>
          </a:p>
          <a:p>
            <a:pPr indent="-308610" lvl="0" marL="457200" rtl="0" algn="l">
              <a:spcBef>
                <a:spcPts val="1200"/>
              </a:spcBef>
              <a:spcAft>
                <a:spcPts val="0"/>
              </a:spcAft>
              <a:buSzPct val="100000"/>
              <a:buChar char="●"/>
            </a:pPr>
            <a:r>
              <a:rPr lang="en"/>
              <a:t>A Calculated Column would compute and store the profit margin for every single row in the table, consuming memory and increasing file size even for rows you may never display.</a:t>
            </a:r>
            <a:endParaRPr/>
          </a:p>
          <a:p>
            <a:pPr indent="-308610" lvl="0" marL="457200" rtl="0" algn="l">
              <a:spcBef>
                <a:spcPts val="0"/>
              </a:spcBef>
              <a:spcAft>
                <a:spcPts val="0"/>
              </a:spcAft>
              <a:buSzPct val="100000"/>
              <a:buChar char="●"/>
            </a:pPr>
            <a:r>
              <a:rPr lang="en"/>
              <a:t>A Measure calculates the profit margin only when needed, and it automatically adapts to whatever filter context is active (e.g., per product, per region, per month).</a:t>
            </a:r>
            <a:endParaRPr/>
          </a:p>
          <a:p>
            <a:pPr indent="-308610" lvl="0" marL="457200" rtl="0" algn="l">
              <a:spcBef>
                <a:spcPts val="0"/>
              </a:spcBef>
              <a:spcAft>
                <a:spcPts val="0"/>
              </a:spcAft>
              <a:buSzPct val="100000"/>
              <a:buChar char="●"/>
            </a:pPr>
            <a:r>
              <a:rPr lang="en"/>
              <a:t>Profit Margin is an aggregated insight, so it makes far more sense as a Measure: Profit Margin % = DIVIDE([Total Profit], [Total Sales], 0) clean, dynamic, and storage-efficient.</a:t>
            </a:r>
            <a:endParaRPr/>
          </a:p>
          <a:p>
            <a:pPr indent="0" lvl="0" marL="0" rtl="0" algn="l">
              <a:spcBef>
                <a:spcPts val="1200"/>
              </a:spcBef>
              <a:spcAft>
                <a:spcPts val="1200"/>
              </a:spcAft>
              <a:buClr>
                <a:schemeClr val="dk1"/>
              </a:buClr>
              <a:buSzPct val="61111"/>
              <a:buFont typeface="Arial"/>
              <a:buNone/>
            </a:pPr>
            <a:r>
              <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